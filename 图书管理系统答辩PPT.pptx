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224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  <a:latin typeface="Microsoft YaHei"/>
              </a:defRPr>
            </a:pPr>
            <a:r>
              <a:t>图书管理系统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9DD8"/>
                </a:solidFill>
                <a:latin typeface="Microsoft YaHei"/>
              </a:defRPr>
            </a:pPr>
            <a:r>
              <a:t>Library Management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3200400"/>
            <a:ext cx="3017520" cy="27432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基于 JavaFX + SQLite 的桌面端图书管理系统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毕业答辩演示  |  2026年7月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目  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Project Background &amp; Goals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技术栈概览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19202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67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267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5420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26771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26771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设计模式应用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254203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Design Patterns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889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8895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638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Database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8950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88950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DAO层 — 数据访问层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316382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Data Access Layer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112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35112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Service层 — 业务逻辑层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37856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Service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511296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511296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核心业务流程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378561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Core Business Flows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1330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133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推荐系统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4407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Recommendation 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413308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4133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UI层 — 前端展示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440740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UI Layer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功能模块详解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7160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Feature Modules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7548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报表与统计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50292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Reports &amp; Statistics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376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5376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数据备份与恢复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6509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Backup &amp; Restore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537667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376672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主题与用户体验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65099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Theme &amp; UX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99846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59984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系统亮点与创新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71600" y="62727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Highlights &amp; Innovation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998464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5998464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C3E50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627278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2/18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Project Background &amp; 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" cy="3657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传统图书馆管理依赖人工操作，效率低下、易出错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图书借还、用户管理、数据统计需要系统化支撑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中小型图书馆缺乏成本可控的信息化解决方案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需要一个功能完整、界面友好的桌面端管理工具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54864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C3E50"/>
                </a:solidFill>
                <a:latin typeface="Microsoft YaHei"/>
              </a:defRPr>
            </a:pPr>
            <a:r>
              <a:t>项目目标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11480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实现图书管理全流程信息化（增删改查、借还续借）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支持多角色权限管理（管理员/馆员/读者）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提供数据统计与报表导出功能</a:t>
            </a:r>
          </a:p>
          <a:p>
            <a:pPr>
              <a:spcAft>
                <a:spcPts val="400"/>
              </a:spcAft>
              <a:defRPr sz="1400" b="0">
                <a:solidFill>
                  <a:srgbClr val="2C3E50"/>
                </a:solidFill>
                <a:latin typeface="Microsoft YaHei"/>
              </a:defRPr>
            </a:pPr>
            <a:r>
              <a:t>• 良好的用户体验（Material Design、主题切换）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0" y="1828800"/>
            <a:ext cx="118872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数据表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828800"/>
            <a:ext cx="118872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48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Java源文件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01200" y="1828800"/>
            <a:ext cx="118872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0120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设计模式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0" y="1828800"/>
            <a:ext cx="1188720" cy="10972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72800" y="19202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24688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Microsoft YaHei"/>
              </a:defRPr>
            </a:pPr>
            <a:r>
              <a:t>用户角色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3474720"/>
            <a:ext cx="4846320" cy="27432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0" y="3566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系统分层架构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31920"/>
            <a:ext cx="4389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┌──────────────────────────────────┐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│   UI Layer (JavaFX + JFoenix)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├──────────────────────────────────┤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│   Service Layer (业务逻辑) 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├──────────────────────────────────┤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│   DAO Layer (数据访问)     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├──────────────────────────────────┤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│   SQLite Database                │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└──────────────────────────────────┘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3/18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技术栈概览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2651760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980B9"/>
                </a:solidFill>
                <a:latin typeface="Microsoft YaHei"/>
              </a:defRPr>
            </a:pPr>
            <a:r>
              <a:t>Java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开发语言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最新LTS版本，虚拟线程支持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64592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29000" y="1645920"/>
            <a:ext cx="2651760" cy="54864"/>
          </a:xfrm>
          <a:prstGeom prst="rect">
            <a:avLst/>
          </a:prstGeom>
          <a:solidFill>
            <a:srgbClr val="349D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9DD8"/>
                </a:solidFill>
                <a:latin typeface="Microsoft YaHei"/>
              </a:defRPr>
            </a:pPr>
            <a:r>
              <a:t>JavaFX 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UI框架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现代化桌面应用开发框架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59" y="164592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09359" y="1645920"/>
            <a:ext cx="265176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39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JFoenix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39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Material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Google Material组件库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19" y="164592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189719" y="1645920"/>
            <a:ext cx="2651760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372599" y="1828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7E22"/>
                </a:solidFill>
                <a:latin typeface="Microsoft YaHei"/>
              </a:defRPr>
            </a:pPr>
            <a:r>
              <a:t>SQLite 3.42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599" y="2377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嵌入式数据库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599" y="2743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零配置、轻量级、文件型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11480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48640" y="4114800"/>
            <a:ext cx="265176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3152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74C3C"/>
                </a:solidFill>
                <a:latin typeface="Microsoft YaHei"/>
              </a:defRPr>
            </a:pPr>
            <a:r>
              <a:t>Apache POI 5.2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Office操作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Excel报表导入导出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411480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429000" y="4114800"/>
            <a:ext cx="2651760" cy="54864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611880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8E44AD"/>
                </a:solidFill>
                <a:latin typeface="Microsoft YaHei"/>
              </a:defRPr>
            </a:pPr>
            <a:r>
              <a:t>jBCrypt 0.4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11880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密码加密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1880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盐值哈希保护用户密码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59" y="411480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309359" y="4114800"/>
            <a:ext cx="2651760" cy="54864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92239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Log4j2 2.20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39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日志框架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39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分级记录、滚动归档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19" y="4114800"/>
            <a:ext cx="265176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189719" y="4114800"/>
            <a:ext cx="2651760" cy="54864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372599" y="42976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FontAwesomeFX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72599" y="48463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C3E50"/>
                </a:solidFill>
                <a:latin typeface="Microsoft YaHei"/>
              </a:defRPr>
            </a:pPr>
            <a:r>
              <a:t>图标库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72599" y="52120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丰富的矢量图标资源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4/18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系统架构设计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经典四层架构 + MVC模式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26060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011680"/>
            <a:ext cx="4114800" cy="640080"/>
          </a:xfrm>
          <a:prstGeom prst="rect">
            <a:avLst/>
          </a:prstGeom>
          <a:solidFill>
            <a:srgbClr val="349D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UI 层 (View)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EEEE"/>
                </a:solidFill>
                <a:latin typeface="Microsoft YaHei"/>
              </a:defRPr>
            </a:pPr>
            <a:r>
              <a:t>JavaFX + JFoenix + FontAwesomeFX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566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2971800"/>
            <a:ext cx="4114800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Service 层 (Controller)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192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EEEE"/>
                </a:solidFill>
                <a:latin typeface="Microsoft YaHei"/>
              </a:defRPr>
            </a:pPr>
            <a:r>
              <a:t>业务逻辑 | 权限校验 | 通知推送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526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3931920"/>
            <a:ext cx="4114800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39776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DAO 层 (Data Access)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793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EEEE"/>
                </a:solidFill>
                <a:latin typeface="Microsoft YaHei"/>
              </a:defRPr>
            </a:pPr>
            <a:r>
              <a:t>JDBC | CRUD | 原子操作 | 连接池管理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5486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4892040"/>
            <a:ext cx="4114800" cy="64008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937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Model 层 (Domain)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2395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EEEE"/>
                </a:solidFill>
                <a:latin typeface="Microsoft YaHei"/>
              </a:defRPr>
            </a:pPr>
            <a:r>
              <a:t>实体类 | 继承层次 | 业务方法封装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5852160"/>
            <a:ext cx="4114800" cy="6400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5897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Database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61996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EEEEE"/>
                </a:solidFill>
                <a:latin typeface="Microsoft YaHei"/>
              </a:defRPr>
            </a:pPr>
            <a:r>
              <a:t>SQLite | library.db | 6张表 | 外键约束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关键设计要点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201168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17920" y="20116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依赖方向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2860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UI → Service → DAO → DB</a:t>
            </a:r>
            <a:br/>
            <a:r>
              <a:t>上层依赖下层，下层不感知上层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97180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17920" y="2971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解耦设计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246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接口抽象（SearchStrategy、Observer）</a:t>
            </a:r>
            <a:br/>
            <a:r>
              <a:t>实现类可独立替换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393192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17920" y="39319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单例管理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4206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DatabaseManager、ThemeManager</a:t>
            </a:r>
            <a:br/>
            <a:r>
              <a:t>全局唯一实例，避免资源竞争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489204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217920" y="48920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原子操作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5166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借书/还书使用SQL原子更新</a:t>
            </a:r>
            <a:br/>
            <a:r>
              <a:t>WHERE条件保证并发安全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585216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17920" y="5852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角色权限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7920" y="6126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继承体系：User → Admin/Librarian/Member</a:t>
            </a:r>
            <a:br/>
            <a:r>
              <a:t>角色决定可访问功能和借阅上限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5/18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设计模式应用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Design Patterns (GoF)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1945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194560" cy="82296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600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单例模式</a:t>
            </a:r>
            <a:br/>
            <a:r>
              <a:t>Singleton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980B9"/>
                </a:solidFill>
                <a:latin typeface="Microsoft YaHei"/>
              </a:defRPr>
            </a:pPr>
            <a:r>
              <a:t>DatabaseManager</a:t>
            </a:r>
            <a:br/>
            <a:r>
              <a:t>ThemeManager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全局唯一数据库连接管理器</a:t>
            </a:r>
            <a:br/>
            <a:r>
              <a:t>• 全局唯一主题管理器</a:t>
            </a:r>
            <a:br/>
            <a:r>
              <a:t>• 避免重复初始化，统一管理状态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适用场景：资源共享、配置管理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554480"/>
            <a:ext cx="21945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651760" y="1554480"/>
            <a:ext cx="2194560" cy="8229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43200" y="1600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工厂方法</a:t>
            </a:r>
            <a:br/>
            <a:r>
              <a:t>Factory Method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  <a:latin typeface="Microsoft YaHei"/>
              </a:defRPr>
            </a:pPr>
            <a:r>
              <a:t>UserFactory</a:t>
            </a:r>
            <a:br/>
            <a:r>
              <a:t>.createUser()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0175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根据角色字符串创建对应子类</a:t>
            </a:r>
            <a:br/>
            <a:r>
              <a:t>• switch表达式 → Admin/Librarian/Member</a:t>
            </a:r>
            <a:br/>
            <a:r>
              <a:t>• 默认返回Member兜底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适用场景：对象创建与类型解耦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1554480"/>
            <a:ext cx="21945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0" y="1554480"/>
            <a:ext cx="2194560" cy="8229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20640" y="1600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策略模式</a:t>
            </a:r>
            <a:br/>
            <a:r>
              <a:t>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7E22"/>
                </a:solidFill>
                <a:latin typeface="Microsoft YaHei"/>
              </a:defRPr>
            </a:pPr>
            <a:r>
              <a:t>SearchStrategy接口</a:t>
            </a:r>
            <a:br/>
            <a:r>
              <a:t>4种实现类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30175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TitleSearchStrategy — 按书名</a:t>
            </a:r>
            <a:br/>
            <a:r>
              <a:t>• AuthorSearchStrategy — 按作者</a:t>
            </a:r>
            <a:br/>
            <a:r>
              <a:t>• ISBNSearchStrategy — 按ISBN</a:t>
            </a:r>
            <a:br/>
            <a:r>
              <a:t>• CategorySearchStrategy — 按分类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2064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适用场景：算法族可动态切换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554480"/>
            <a:ext cx="21945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06640" y="1554480"/>
            <a:ext cx="2194560" cy="8229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98080" y="1600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观察者模式</a:t>
            </a:r>
            <a:br/>
            <a:r>
              <a:t>Observer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74C3C"/>
                </a:solidFill>
                <a:latin typeface="Microsoft YaHei"/>
              </a:defRPr>
            </a:pPr>
            <a:r>
              <a:t>InventoryObserver接口</a:t>
            </a:r>
            <a:br/>
            <a:r>
              <a:t>BookService通知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0" y="30175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BookManagementView实现Observer</a:t>
            </a:r>
            <a:br/>
            <a:r>
              <a:t>• 库存变化时自动刷新TableView</a:t>
            </a:r>
            <a:br/>
            <a:r>
              <a:t>• 松耦合：Service不依赖具体UI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适用场景：一对多状态变更通知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84080" y="1554480"/>
            <a:ext cx="2194560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784080" y="1554480"/>
            <a:ext cx="2194560" cy="8229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875520" y="160020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装饰器模式</a:t>
            </a:r>
            <a:br/>
            <a:r>
              <a:t>Decorator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25146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  <a:latin typeface="Microsoft YaHei"/>
              </a:defRPr>
            </a:pPr>
            <a:r>
              <a:t>BookDecorator抽象类</a:t>
            </a:r>
            <a:br/>
            <a:r>
              <a:t>RecommendedBookDecorator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75520" y="3017520"/>
            <a:ext cx="20116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在不修改Book类的前提下扩展功能</a:t>
            </a:r>
            <a:br/>
            <a:r>
              <a:t>• 添加推荐理由/标签等额外信息</a:t>
            </a:r>
            <a:br/>
            <a:r>
              <a:t>• 支持多层装饰叠加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56692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999999"/>
                </a:solidFill>
                <a:latin typeface="Microsoft YaHei"/>
              </a:defRPr>
            </a:pPr>
            <a:r>
              <a:t>适用场景：动态扩展对象功能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6/18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Database Design — SQLite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029200" cy="74980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users  (用户表)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EE"/>
                </a:solidFill>
                <a:latin typeface="Microsoft YaHei"/>
              </a:defRPr>
            </a:pPr>
            <a:r>
              <a:t>id, username, password(BCrypt), role, email, phone, created_at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95728"/>
            <a:ext cx="5029200" cy="74980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441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categories  (分类表)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1576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EE"/>
                </a:solidFill>
                <a:latin typeface="Microsoft YaHei"/>
              </a:defRPr>
            </a:pPr>
            <a:r>
              <a:t>id, name(UNIQUE), 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36976"/>
            <a:ext cx="5029200" cy="7498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28269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books  (图书表)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5701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EE"/>
                </a:solidFill>
                <a:latin typeface="Microsoft YaHei"/>
              </a:defRPr>
            </a:pPr>
            <a:r>
              <a:t>id, isbn(UNIQUE), title, author, publisher, category_id(FK),</a:t>
            </a:r>
            <a:br/>
            <a:r>
              <a:t>publish_year, total_copies, available_copies, location, description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078224"/>
            <a:ext cx="5029200" cy="749808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412394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borrow_records  (借阅记录表)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982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EE"/>
                </a:solidFill>
                <a:latin typeface="Microsoft YaHei"/>
              </a:defRPr>
            </a:pPr>
            <a:r>
              <a:t>id, user_id(FK), book_id(FK), borrow_date, due_date,</a:t>
            </a:r>
            <a:br/>
            <a:r>
              <a:t>return_date, status, fine_amount, renewed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919472"/>
            <a:ext cx="5029200" cy="749808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49651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reservations  (预约表)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239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EE"/>
                </a:solidFill>
                <a:latin typeface="Microsoft YaHei"/>
              </a:defRPr>
            </a:pPr>
            <a:r>
              <a:t>id, user_id(FK), book_id(FK), reserve_date, 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60720"/>
            <a:ext cx="5029200" cy="749808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" y="58064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reviews  (评论表)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807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EEEEE"/>
                </a:solidFill>
                <a:latin typeface="Microsoft YaHei"/>
              </a:defRPr>
            </a:pPr>
            <a:r>
              <a:t>id, user_id(FK), book_id(FK), rating(1-5 CHECK),</a:t>
            </a:r>
            <a:br/>
            <a:r>
              <a:t>comment, created_at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数据库设计要点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201168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17920" y="20116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外键约束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240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所有关联表均设置FOREIGN KEY，保证数据完整性</a:t>
            </a:r>
            <a:br/>
            <a:r>
              <a:t>PRAGMA foreign_keys = ON 每次连接时启用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78892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217920" y="278892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唯一约束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30175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username、isbn、category name设置UNIQUE</a:t>
            </a:r>
            <a:br/>
            <a:r>
              <a:t>防止重复数据，自动创建索引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356616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0" y="356616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CHECK约束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reviews.rating CHECK(rating &gt;= 1 AND rating &lt;= 5)</a:t>
            </a:r>
            <a:br/>
            <a:r>
              <a:t>在数据库层面确保评分有效性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0" y="434340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434340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初始化策略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首次启动自动执行init.sql建表+种子数据</a:t>
            </a:r>
            <a:br/>
            <a:r>
              <a:t>INSERT OR IGNORE保证幂等性，可重复执行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512064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17920" y="512064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原子操作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3492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借书：UPDATE books SET available=available-1 WHERE available&gt;0</a:t>
            </a:r>
            <a:br/>
            <a:r>
              <a:t>还书：UPDATE books SET available=available+1 WHERE available&lt;total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43600" y="589788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217920" y="5897880"/>
            <a:ext cx="5303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数据安全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6126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密码使用BCrypt盐值哈希存储</a:t>
            </a:r>
            <a:br/>
            <a:r>
              <a:t>备份恢复在一个事务中完成，失败自动回滚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7/18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DAO层 — 数据访问层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Data Access Object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DAO层设计原则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统一连接管理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7627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所有DAO通过DatabaseManager.getInstance().getConnection()</a:t>
            </a:r>
            <a:br/>
            <a:r>
              <a:t>获取连接，使用try-with-resources自动释放资源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27889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职责单一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449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每个DAO只负责一张表的CRUD操作</a:t>
            </a:r>
            <a:br/>
            <a:r>
              <a:t>关联查询使用LEFT JOIN而非多次查询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原子操作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1363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BookDAO提供atomicDecrementAvailable()和</a:t>
            </a:r>
            <a:br/>
            <a:r>
              <a:t>atomicIncrementAvailable()，WHERE条件保证并发安全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26279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52627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参数化查询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82311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全部使用PreparedStatement防止SQL注入</a:t>
            </a:r>
            <a:br/>
            <a:r>
              <a:t>?占位符 + setString/setInt/setLong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9496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53949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工厂解耦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5099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UserDAO使用UserFactory.createFromData()映射结果集</a:t>
            </a:r>
            <a:br/>
            <a:r>
              <a:t>数据库字段与Java对象类型自动适配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6个DAO类 + 1个管理器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92024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1920240"/>
            <a:ext cx="45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675120" y="1965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DatabaseManager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1945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单例 | 连接管理 | 数据库初始化 | 表存在性校验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256032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2560320"/>
            <a:ext cx="45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75120" y="26060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UserDAO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28346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用户CRUD | 按角色查询 | 关键词搜索 | 密码修改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320040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3200400"/>
            <a:ext cx="45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32461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BookDAO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474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图书CRUD | 分类JOIN | 原子库存操作 | 多条件搜索 | 热门图书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3840479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400800" y="3840479"/>
            <a:ext cx="45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675120" y="388619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CategoryDAO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11479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分类CRUD | 删除前检查关联图书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448056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6400800" y="4480560"/>
            <a:ext cx="45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675120" y="4526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BorrowRecordDAO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47548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借还记录CRUD | 逾期状态更新 | 续借 | 共借查询 | 统计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0" y="5120640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6400800" y="5120640"/>
            <a:ext cx="45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675120" y="51663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ReservationDAO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75120" y="53949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预约CRUD | 待处理查询 | 重复预约检查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00800" y="5760719"/>
            <a:ext cx="53035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400800" y="5760719"/>
            <a:ext cx="45720" cy="5486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75120" y="58064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7AE60"/>
                </a:solidFill>
                <a:latin typeface="Microsoft YaHei"/>
              </a:defRPr>
            </a:pPr>
            <a:r>
              <a:t>ReviewDAO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60350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评论CRUD | 平均评分 | 重复评论检查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8/18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Service层 — 业务逻辑层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Business Logic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5669280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UserService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50876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用户认证与会话管理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login() 支持BCrypt密码验证，自动升级明文密码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98424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register() 创建Member账号，BCrypt加密存储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18541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删除用户前检查是否存在活跃借阅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currentUser字段维护登录会话状态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15768"/>
            <a:ext cx="566928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65760" y="2715768"/>
            <a:ext cx="5669280" cy="45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48640" y="280720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Microsoft YaHei"/>
              </a:defRPr>
            </a:pPr>
            <a:r>
              <a:t>BookService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80720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图书管理与搜索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081528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实现Observer模式，库存变化通知UI刷新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282696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持有SearchStrategy接口引用，支持动态切换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8386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删除图书前检查活跃借阅记录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8503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searchBooks() 多条件组合搜索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014215"/>
            <a:ext cx="566928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4014215"/>
            <a:ext cx="566928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105655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67E22"/>
                </a:solidFill>
                <a:latin typeface="Microsoft YaHei"/>
              </a:defRPr>
            </a:pPr>
            <a:r>
              <a:t>BorrowService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4105655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借阅/归还/续借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379975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borrowBook(): 先更新逾期状态→检查库存→检查用户限额→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81143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  检查重复借阅→创建记录→原子减库存(失败则补偿回滚)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782311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returnBook(): 计算罚金→更新记录→原子加库存→通知预约者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983479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renewBook(): 校验canRenew()→SQL datetime函数延期14天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312664"/>
            <a:ext cx="5669280" cy="12070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65760" y="5312664"/>
            <a:ext cx="5669280" cy="45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8640" y="540410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Microsoft YaHei"/>
              </a:defRPr>
            </a:pPr>
            <a:r>
              <a:t>ReservationService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26080" y="54041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预约管理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78424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reserveBook() 仅图书不可借(availableCopies=0)时可预约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79592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同一用户不可重复预约同一本书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080760"/>
            <a:ext cx="5212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• notifyReservedUsers() 归还后批量通知所有待处理预约者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其他Service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1920240"/>
            <a:ext cx="53035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400800" y="192024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675120" y="19659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RecommendationService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75120" y="21945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协同过滤推荐算法，基于共借读者分析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2651760"/>
            <a:ext cx="53035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6400800" y="265176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675120" y="2697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NotificationService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292608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内存通知系统，500条上限，Listener回调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3383280"/>
            <a:ext cx="53035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400800" y="338328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675120" y="34290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ReportService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675120" y="3657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统计聚合：分类借阅占比、热门图书排行、罚金总额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4114800"/>
            <a:ext cx="5303520" cy="6400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6400800" y="4114800"/>
            <a:ext cx="45720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675120" y="4160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980B9"/>
                </a:solidFill>
                <a:latin typeface="Microsoft YaHei"/>
              </a:defRPr>
            </a:pPr>
            <a:r>
              <a:t>BackupService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4389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数据库备份：导出为SQL INSERT语句</a:t>
            </a:r>
            <a:br/>
            <a:r>
              <a:t>恢复：事务内执行 + 失败自动回滚 + 自动备份保护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9/18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核心业务流程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Core Business Flows — 借书 &amp; 还书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980B9"/>
                </a:solidFill>
                <a:latin typeface="Microsoft YaHei"/>
              </a:defRPr>
            </a:pPr>
            <a:r>
              <a:t>借书流程 (BorrowService.borrowBook)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2980B9"/>
                </a:solidFill>
                <a:latin typeface="Microsoft YaHei"/>
              </a:defRPr>
            </a:pPr>
            <a:r>
              <a:t>1. 更新逾期状态 (updateOverdueStatus)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0">
                <a:solidFill>
                  <a:srgbClr val="2980B9"/>
                </a:solidFill>
                <a:latin typeface="Microsoft YaHei"/>
              </a:defRPr>
            </a:pPr>
            <a:r>
              <a:t>2. 检查图书是否可借 (availableCopies &gt; 0)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0">
                <a:solidFill>
                  <a:srgbClr val="2980B9"/>
                </a:solidFill>
                <a:latin typeface="Microsoft YaHei"/>
              </a:defRPr>
            </a:pPr>
            <a:r>
              <a:t>3. 检查用户借阅上限 (Member=5本, 其他=10本)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0">
                <a:solidFill>
                  <a:srgbClr val="2980B9"/>
                </a:solidFill>
                <a:latin typeface="Microsoft YaHei"/>
              </a:defRPr>
            </a:pPr>
            <a:r>
              <a:t>4. 检查是否重复借阅同一本书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5. 创建借阅记录 (borrow_date=now, due_date=now+14天)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6. 原子减库存 (UPDATE WHERE available_copies &gt; 0)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├─ 成功 → 通知Observer刷新UI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└─ 失败 → 补偿：标记记录为已归还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还书流程 (BorrowService.returnBook)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1. 查找借阅记录，验证状态为 borrowed/overdue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2. 计算逾期天数 &amp; 罚金 (0.1元/天)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3. 更新记录 (return_date, status='returned', fine_amount)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4. 原子加库存 (UPDATE WHERE available_copies &lt; total)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5. 检查该书的待处理预约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├─ 有 → 批量通知所有预约用户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└─ 无 → 结束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7AE60"/>
                </a:solidFill>
                <a:latin typeface="Microsoft YaHei"/>
              </a:defRPr>
            </a:pPr>
            <a:r>
              <a:t>6. 通知Observer刷新UI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67E22"/>
                </a:solidFill>
                <a:latin typeface="Microsoft YaHei"/>
              </a:defRPr>
            </a:pPr>
            <a:r>
              <a:t>续借 (renewBook): 校验canRenew(未归还 + 未逾期 + 未续借过) → SQL: UPDATE...SET due_date=datetime(due_date,'+14 days'), renewed=1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10/18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Model层 — 领域模型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Domain Models &amp; Inheritance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用户角色继承体系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920240"/>
            <a:ext cx="320040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0240" y="19659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User (abstract)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2860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id | username | password | role | email | 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2560320" cy="11887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Admin (管理员)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canManageUsers()=true</a:t>
            </a:r>
            <a:br/>
            <a:r>
              <a:t>canManageSystem()=true</a:t>
            </a:r>
            <a:br/>
            <a:r>
              <a:t>全部权限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2926080"/>
            <a:ext cx="2560320" cy="11887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926080" y="297180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t>Librarian (馆员)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29184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t>canManageBooks()=true</a:t>
            </a:r>
            <a:br/>
            <a:r>
              <a:t>canManageBorrows()=true</a:t>
            </a:r>
            <a:br/>
            <a:r>
              <a:t>可操作图书/借阅/报表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65176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99999"/>
                </a:solidFill>
                <a:latin typeface="Microsoft YaHei"/>
              </a:defRPr>
            </a:pPr>
            <a:r>
              <a:t>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3565" y="4114799"/>
            <a:ext cx="2560320" cy="1188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823565" y="4348077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Microsoft YaHei"/>
              </a:defRPr>
            </a:pPr>
            <a:r>
              <a:rPr dirty="0"/>
              <a:t>Member (</a:t>
            </a:r>
            <a:r>
              <a:rPr dirty="0" err="1"/>
              <a:t>读者</a:t>
            </a:r>
            <a:r>
              <a:rPr dirty="0"/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7055" y="4572000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FFFFF"/>
                </a:solidFill>
                <a:latin typeface="Microsoft YaHei"/>
              </a:defRPr>
            </a:pPr>
            <a:r>
              <a:rPr dirty="0"/>
              <a:t>MAX_BORROW_LIMIT=5</a:t>
            </a:r>
            <a:br>
              <a:rPr dirty="0"/>
            </a:br>
            <a:r>
              <a:rPr dirty="0" err="1"/>
              <a:t>canBorrow</a:t>
            </a:r>
            <a:r>
              <a:rPr dirty="0"/>
              <a:t>/Reserve/Review</a:t>
            </a:r>
            <a:br>
              <a:rPr dirty="0"/>
            </a:br>
            <a:r>
              <a:rPr dirty="0" err="1"/>
              <a:t>可借阅</a:t>
            </a:r>
            <a:r>
              <a:rPr dirty="0"/>
              <a:t>/</a:t>
            </a:r>
            <a:r>
              <a:rPr dirty="0" err="1"/>
              <a:t>预约</a:t>
            </a:r>
            <a:r>
              <a:rPr dirty="0"/>
              <a:t>/</a:t>
            </a:r>
            <a:r>
              <a:rPr dirty="0" err="1"/>
              <a:t>评论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6400800" y="14630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其他实体模型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01168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20116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Book (图书)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26771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rPr dirty="0" err="1"/>
              <a:t>isbn</a:t>
            </a:r>
            <a:r>
              <a:rPr dirty="0"/>
              <a:t>, title, author, publisher, </a:t>
            </a:r>
            <a:r>
              <a:rPr dirty="0" err="1"/>
              <a:t>categoryId</a:t>
            </a:r>
            <a:r>
              <a:rPr dirty="0"/>
              <a:t>,</a:t>
            </a:r>
            <a:br>
              <a:rPr dirty="0"/>
            </a:br>
            <a:r>
              <a:rPr dirty="0" err="1"/>
              <a:t>publishYear</a:t>
            </a:r>
            <a:r>
              <a:rPr dirty="0"/>
              <a:t>, </a:t>
            </a:r>
            <a:r>
              <a:rPr dirty="0" err="1"/>
              <a:t>totalCopies</a:t>
            </a:r>
            <a:r>
              <a:rPr dirty="0"/>
              <a:t>, </a:t>
            </a:r>
            <a:r>
              <a:rPr dirty="0" err="1"/>
              <a:t>availableCopies</a:t>
            </a:r>
            <a:r>
              <a:rPr dirty="0"/>
              <a:t>, location</a:t>
            </a:r>
            <a:br>
              <a:rPr dirty="0"/>
            </a:br>
            <a:r>
              <a:rPr dirty="0" err="1"/>
              <a:t>方法</a:t>
            </a:r>
            <a:r>
              <a:rPr dirty="0"/>
              <a:t>: </a:t>
            </a:r>
            <a:r>
              <a:rPr dirty="0" err="1"/>
              <a:t>isAvailable</a:t>
            </a:r>
            <a:r>
              <a:rPr dirty="0"/>
              <a:t>(), </a:t>
            </a:r>
            <a:r>
              <a:rPr dirty="0" err="1"/>
              <a:t>borrowOne</a:t>
            </a:r>
            <a:r>
              <a:rPr dirty="0"/>
              <a:t>(), </a:t>
            </a:r>
            <a:r>
              <a:rPr dirty="0" err="1"/>
              <a:t>returnOne</a:t>
            </a:r>
            <a:r>
              <a:rPr dirty="0"/>
              <a:t>()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88036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28803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BorrowRecord (借阅记录)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31363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userId, bookId, borrowDate, dueDate,</a:t>
            </a:r>
            <a:br/>
            <a:r>
              <a:t>returnDate, status, fineAmount, renewed</a:t>
            </a:r>
            <a:br/>
            <a:r>
              <a:t>方法: getOverdueDays(), calculateFine(), canRenew()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3749039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675120" y="37490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Category (分类)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005071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id, name(UNIQUE), description</a:t>
            </a:r>
            <a:br/>
            <a:r>
              <a:t>简单实体，无特殊业务方法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461772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46177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Reservation (预约)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487375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userId, bookId, reserveDate, status</a:t>
            </a:r>
            <a:br/>
            <a:r>
              <a:t>状态: pending / fulfilled / cancelled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5486400"/>
            <a:ext cx="45720" cy="7315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675120" y="54864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980B9"/>
                </a:solidFill>
                <a:latin typeface="Microsoft YaHei"/>
              </a:defRPr>
            </a:pPr>
            <a:r>
              <a:t>Review (评论)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74243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  <a:latin typeface="Microsoft YaHei"/>
              </a:defRPr>
            </a:pPr>
            <a:r>
              <a:t>userId, bookId, rating(1-5), comment</a:t>
            </a:r>
            <a:br/>
            <a:r>
              <a:t>业务规则: 必须借过书才能评论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11/18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UI层 — 前端展示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JavaFX + JFoenix + FontAwesomeFX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UI架构概览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45720" cy="1188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MainView (应用外壳)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顶部Header Bar：Logo + 用户信息 + 通知铃铛 + 退出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左侧Sidebar：可折叠导航菜单，角色自适应显示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06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中央Content Area：动态切换各功能模块View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底部Notification Bar：实时推送系统消息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45720" cy="1188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角色自适应导航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Admin/Librarian：图书管理 | 借阅管理 | 归还管理 | 用户管理 | 报表 | 设置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749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Member：首页 | 图书浏览 | 我的借阅 | 设置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9776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MainView根据currentUser.getRole()动态构建菜单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572000"/>
            <a:ext cx="45720" cy="1188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视图切换机制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8920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MainView.showView(Region view) 替换content区域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206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各View实现为独立Region，低耦合高内聚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切换时自动加载主题CSS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11个View视图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288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登录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182880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46520" y="18379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登录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18288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LoginView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18288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登录/注册页面，渐变背景卡片式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22402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主页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224028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46520" y="22494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主页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22402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MainView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22402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应用外壳，仪表盘+推荐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26517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图书管理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0" y="265176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26609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图书管理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26517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BookManagementView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26517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TableView+搜索+分页+增删改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30632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图书详情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306324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446520" y="307238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图书详情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0632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BookDetailView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30632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信息卡片+评分+评论+借阅/预约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34747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图书编辑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47472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46520" y="34838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图书编辑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34747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BookDialog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34747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弹窗表单，ISBN查重校验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38862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借阅管理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388620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46520" y="38953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借阅管理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38862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BorrowView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38862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双Tab：借书+当前借阅列表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429768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归还管理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00800" y="429768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446520" y="430682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归还管理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429768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ReturnView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01200" y="429768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ISBN快速还书+罚款预览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470916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用户管理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470916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446520" y="471830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用户管理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589520" y="47091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UserManagementView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47091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用户列表+搜索+角色筛选+增删改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400800" y="51206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用户编辑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00800" y="512064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6446520" y="512978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用户编辑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12064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UserDialog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512064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弹窗表单，角色下拉选择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0" y="553212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报表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400800" y="553212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446520" y="554126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报表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553212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ReportView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01200" y="55321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饼图+柱状图+Excel导出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0" y="594360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设置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400800" y="5943600"/>
            <a:ext cx="1097280" cy="201168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446520" y="5952744"/>
            <a:ext cx="1005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Microsoft YaHei"/>
              </a:defRPr>
            </a:pPr>
            <a:r>
              <a:t>设置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589520" y="594360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C3E50"/>
                </a:solidFill>
                <a:latin typeface="Microsoft YaHei"/>
              </a:defRPr>
            </a:pPr>
            <a:r>
              <a:t>SettingView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601200" y="594360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77777"/>
                </a:solidFill>
                <a:latin typeface="Microsoft YaHei"/>
              </a:defRPr>
            </a:pPr>
            <a:r>
              <a:t>主题切换+备份恢复+关于信息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12/18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功能模块详解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Feature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54864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5486400" cy="4114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图书管理模块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图书增删改查，支持ISBN防重复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677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多条件搜索：关键词+分类+搜索类型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94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分页展示，每页10条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8712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库存实时显示(可用/总计)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分类管理：新增/编辑/删除分类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474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删除保护：有借阅记录不可删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63040"/>
            <a:ext cx="54864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463040"/>
            <a:ext cx="54864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0" y="15087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借阅管理模块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659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借书：搜索图书→输入用户ID→确认借阅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26771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还书：ISBN快速检索→显示逾期罚金→确认归还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56946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续借：延长14天，仅限1次，不可逾期续借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87121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逾期自动标记：每日更新overdue状态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17296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借阅上限：Member 5本，管理员/馆员 10本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罚金计算：0.1元/天，还书时自动核算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69080"/>
            <a:ext cx="54864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7200" y="4069080"/>
            <a:ext cx="54864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4114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用户管理模块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用户增删改查，支持角色分配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873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3种角色：Admin(全部权限) / Librarian / Member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1755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BCrypt密码加密存储，安全可靠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772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删除保护：有活跃借阅不可删除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57790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搜索支持：用户名/邮箱/手机号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080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注册：新用户自动创建Member角色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17920" y="4069080"/>
            <a:ext cx="5486400" cy="2423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4069080"/>
            <a:ext cx="5486400" cy="41148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00800" y="41148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评论与推荐模块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57200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评分1-5星，可视化星级选择器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8737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评论权限：必须借过该书才能评论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517550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防重复：同一用户对同一书仅可评论一次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547725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推荐算法：协同过滤(基于共借读者)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577900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推荐理由：「N位读者也借阅了此书」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08076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• 热门推荐：基于借阅总量的Top 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13/18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推荐系统 — 协同过滤算法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Collaborative Filtering 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C3E50"/>
                </a:solidFill>
                <a:latin typeface="Microsoft YaHei"/>
              </a:defRPr>
            </a:pPr>
            <a:r>
              <a:t>算法原理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Step 1: 获取目标用户的所有借阅记录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 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Step 2: 找到所有借过相同书籍的其他读者 (共借者)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     └─ findCoBorrows(userId) SQL JOIN查询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 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Step 3: 获取每位共借者借过的所有书籍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 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Step 4: 统计每本书被多少共借者借过 (共借次数)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 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Step 5: 排除目标用户已借过/正在借的书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 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Step 6: 按共借次数降序排列，取Top N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     ↓</a:t>
            </a:r>
          </a:p>
          <a:p>
            <a:pPr>
              <a:spcAft>
                <a:spcPts val="400"/>
              </a:spcAft>
              <a:defRPr sz="1100" b="1">
                <a:solidFill>
                  <a:srgbClr val="2980B9"/>
                </a:solidFill>
                <a:latin typeface="Microsoft YaHei"/>
              </a:defRPr>
            </a:pPr>
            <a:r>
              <a:t>Step 7: 包装为RecommendedBookDecorator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       └─ getExtraInfo() → "3位读者也借阅了此书"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预加载用户已借阅记录到HashSet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  → 避免在循环中N+1查询数据库</a:t>
            </a: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使用Map&lt;Long, Integer&gt;统计共借次数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  → O(n)时间复杂度完成聚合</a:t>
            </a: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装饰器模式包装推荐结果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  → 不修改Book原始类，扩展推荐信息</a:t>
            </a:r>
          </a:p>
          <a:p>
            <a:pPr>
              <a:spcAft>
                <a:spcPts val="400"/>
              </a:spcAft>
              <a:defRPr sz="4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• 推荐数量可配置(默认Top 10)</a:t>
            </a:r>
          </a:p>
          <a:p>
            <a:pPr>
              <a:spcAft>
                <a:spcPts val="400"/>
              </a:spcAft>
              <a:defRPr sz="1100" b="0">
                <a:solidFill>
                  <a:srgbClr val="777777"/>
                </a:solidFill>
                <a:latin typeface="Microsoft YaHei"/>
              </a:defRPr>
            </a:pPr>
            <a:r>
              <a:t>  → 首页仪表盘展示推荐列表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4389120"/>
            <a:ext cx="5303520" cy="210312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37960" y="448056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public List&lt;RecommendedBookDecorator&gt; recommendBooks(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Long userId, int limit) {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// 1. 获取用户已借/在借的书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Set&lt;Long&gt; userBookIds = getUserBookIdSet(userId);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// 2. 找到借过相同书的其他读者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List&lt;BorrowRecord&gt; coBorrows =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borrowRecordDAO.findCoBorrows(userId);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// 3. 统计每本书的共借次数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Map&lt;Long, Integer&gt; scoreMap = new HashMap&lt;&gt;();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for (BorrowRecord br : coBorrows) { ... }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// 4. 排除已借、排序、取Top N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return scoreMap.entrySet().stream()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.filter(e -&gt; !userBookIds.contains(e.getKey()))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.sorted(...).limit(limit)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.map(e -&gt; new RecommendedBookDecorator(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bookService.getBookById(e.getKey()),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    e.getValue() + "位读者也借阅了此书"))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.collect(Collectors.toList());</a:t>
            </a:r>
          </a:p>
          <a:p>
            <a:pPr>
              <a:spcAft>
                <a:spcPts val="1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14/18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报表统计与数据导出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Reports, Charts &amp; Excel Export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可视化图表 (JavaFX Charts)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4572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饼图 (PieChart)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各分类图书借阅占比分析</a:t>
            </a:r>
            <a:br/>
            <a:r>
              <a:t>数据来源: BorrowRecordDAO.getBorrowStatsByCategory()</a:t>
            </a:r>
            <a:br/>
            <a:r>
              <a:t>展示: 8个分类的借阅量分布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108960"/>
            <a:ext cx="530352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45720" cy="100584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980B9"/>
                </a:solidFill>
                <a:latin typeface="Microsoft YaHei"/>
              </a:defRPr>
            </a:pPr>
            <a:r>
              <a:t>柱状图 (BarChart)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热门图书借阅排行 Top 10</a:t>
            </a:r>
            <a:br/>
            <a:r>
              <a:t>数据来源: BorrowRecordDAO.getHotBookStats()</a:t>
            </a:r>
            <a:br/>
            <a:r>
              <a:t>展示: 横轴书名 + 纵轴借阅次数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C3E50"/>
                </a:solidFill>
                <a:latin typeface="Microsoft YaHei"/>
              </a:defRPr>
            </a:pPr>
            <a:r>
              <a:t>Excel导出 (Apache POI)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0116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Microsoft YaHei"/>
              </a:defRPr>
            </a:pPr>
            <a:r>
              <a:t>exportBooksToExcel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21284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导出所有图书为 「图书列表.xlsx」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688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Microsoft YaHei"/>
              </a:defRPr>
            </a:pPr>
            <a:r>
              <a:t>exportBorrowRecordsToExcel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67004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导出借阅记录为 「借阅记录.xlsx」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92608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980B9"/>
                </a:solidFill>
                <a:latin typeface="Microsoft YaHei"/>
              </a:defRPr>
            </a:pPr>
            <a:r>
              <a:t>exportFinesToExcel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127248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导出罚款明细为 「罚款明细.xlsx」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47472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t>导出样式特点: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表头：加粗白色字体 + 灰色背景 (#4472C4)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单元格：13px微软雅黑，带边框线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列宽自适应：autoSizeColumn()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数字格式：金额保留2位小数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文件保存到用户桌面或指定路径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15/18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数据备份恢复 &amp; 主题系统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Backup/Restore &amp; Theme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980B9"/>
                </a:solidFill>
                <a:latin typeface="Microsoft YaHei"/>
              </a:defRPr>
            </a:pPr>
            <a:r>
              <a:t>数据库备份与恢复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t>备份 (backupToSql):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1. 读取所有6张表的数据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2. 生成INSERT语句 (完整SQL文本)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3. 写入.sql文件到用户指定路径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4. 文件名: backup_yyyyMMdd_HHmmss.sql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t>恢复 (restoreFromSql):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1. 自动备份当前数据库 (library_backup_xxx.db)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2. 解析.sql文件中的INSERT语句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3. 开启事务: conn.setAutoCommit(false)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4. 逐表删除数据 + 执行INSERT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5. 成功→commit | 失败→rollback + 恢复自动备份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✓ 原子性保证: 全部成功或全部回滚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7AE60"/>
                </a:solidFill>
                <a:latin typeface="Microsoft YaHei"/>
              </a:defRPr>
            </a:pPr>
            <a:r>
              <a:t>主题切换系统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8288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t>ThemeManager (单例模式):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使用java.util.prefs.Preferences持久化主题偏好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getCurrentThemePath() 返回CSS路径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toggleTheme() 切换并自动保存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t>浅色主题 (light-theme.css):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白色背景 + #2C3E50深蓝Sidebar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蓝/绿/红/橙四种按钮风格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卡片白底 + 柔和阴影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100" b="1">
                <a:solidFill>
                  <a:srgbClr val="2C3E50"/>
                </a:solidFill>
                <a:latin typeface="Microsoft YaHei"/>
              </a:defRPr>
            </a:pPr>
            <a:r>
              <a:t>深色主题 (dark-theme.css):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#1A1A2E / #16213E 深色背景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浅色文字 + 降低对比度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• 按钮/高亮色保持一致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endParaRPr/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应用方式: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scene.getStylesheets().add(themePath)</a:t>
            </a:r>
          </a:p>
          <a:p>
            <a:pPr>
              <a:spcAft>
                <a:spcPts val="400"/>
              </a:spcAft>
              <a:defRPr sz="1100" b="0">
                <a:solidFill>
                  <a:srgbClr val="2C3E50"/>
                </a:solidFill>
                <a:latin typeface="Microsoft YaHei"/>
              </a:defRPr>
            </a:pPr>
            <a:r>
              <a:t>  所有View在show()时自动加载当前主题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16/18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188720"/>
            <a:ext cx="12191695" cy="457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828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系统亮点与创新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BB"/>
                </a:solidFill>
                <a:latin typeface="Microsoft YaHei"/>
              </a:defRPr>
            </a:pPr>
            <a:r>
              <a:t>Highlights &amp; Innovation Points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3611880" cy="45720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🔐 密码安全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031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BCrypt盐值哈希存储密码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自动检测并升级明文密码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9260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从未以明文形式传输或存储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150876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06240" y="1508760"/>
            <a:ext cx="361188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400" y="15727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⚛ 并发安全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1031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SQLite原子操作防竞态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25146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WHERE available&gt;0保证库存不超借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9260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借书失败自动补偿回滚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0" y="150876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508760"/>
            <a:ext cx="361188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157276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🎨 设计模式实践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1031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5种GoF设计模式的实际应用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51460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单例/工厂/策略/观察者/装饰器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92608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提升代码可维护性和扩展性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11480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65760" y="4114800"/>
            <a:ext cx="3611880" cy="4572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02920" y="41788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📊 数据报表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09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JavaFX原生图表组件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1206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Apache POI导出专业Excel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321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支持3种报表格式导出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06240" y="411480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206240" y="4114800"/>
            <a:ext cx="3611880" cy="4572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43400" y="41788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🤖 智能推荐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89120" y="4709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协同过滤算法(Item-based CF)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51206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性能优化：HashSet预加载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5321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Decorator模式包装推荐结果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46720" y="4114800"/>
            <a:ext cx="36118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046720" y="4114800"/>
            <a:ext cx="3611880" cy="4572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80" y="4178808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💾 安全备份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70916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一键SQL备份与恢复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512064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事务原子性保证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532120"/>
            <a:ext cx="3246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  <a:latin typeface="Microsoft YaHei"/>
              </a:defRPr>
            </a:pPr>
            <a:r>
              <a:t>恢复前自动备份防数据丢失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17/18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3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项目总结与展望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AACC"/>
                </a:solidFill>
                <a:latin typeface="Microsoft YaHei"/>
              </a:defRPr>
            </a:pPr>
            <a:r>
              <a:t>Summary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980B9"/>
                </a:solidFill>
                <a:latin typeface="Microsoft YaHei"/>
              </a:defRPr>
            </a:pPr>
            <a:r>
              <a:t>项目成果总结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完成了一个功能完整的图书管理系统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实现了三层角色权限管理体系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260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应用了5种经典设计模式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保证了核心操作的并发安全性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提供了良好的用户界面体验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编写了约5000行Java代码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✓ 6张数据表、48个Java源文件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rPr dirty="0" err="1"/>
              <a:t>未来改进方向</a:t>
            </a:r>
            <a:endParaRPr dirty="0"/>
          </a:p>
        </p:txBody>
      </p:sp>
      <p:sp>
        <p:nvSpPr>
          <p:cNvPr id="14" name="Rectangle 13"/>
          <p:cNvSpPr/>
          <p:nvPr/>
        </p:nvSpPr>
        <p:spPr>
          <a:xfrm>
            <a:off x="6400800" y="2194560"/>
            <a:ext cx="36576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75120" y="219456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Web化转型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45059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Spring Boot + Vue.js 重构为B/S架构</a:t>
            </a:r>
            <a:br/>
            <a:r>
              <a:t>支持多终端访问，部署到云服务器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971800"/>
            <a:ext cx="36576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75120" y="297180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功能增强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22783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添加邮件/短信通知、条形码扫描</a:t>
            </a:r>
            <a:br/>
            <a:r>
              <a:t>图书封面OCR识别、在线支付罚金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749039"/>
            <a:ext cx="36576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374903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性能优化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400507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引入连接池(HikariCP)替代单连接</a:t>
            </a:r>
            <a:br/>
            <a:r>
              <a:t>增加Redis缓存层减少数据库压力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4526279"/>
            <a:ext cx="36576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675120" y="4526279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数据分析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782311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引入BI工具进行深度数据分析</a:t>
            </a:r>
            <a:br/>
            <a:r>
              <a:t>借阅趋势预测、图书采购建议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5303520"/>
            <a:ext cx="36576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53035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Microsoft YaHei"/>
              </a:defRPr>
            </a:pPr>
            <a:r>
              <a:t>移动端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5559552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  <a:latin typeface="Microsoft YaHei"/>
              </a:defRPr>
            </a:pPr>
            <a:r>
              <a:t>开发Android/iOS移动App</a:t>
            </a:r>
            <a:br/>
            <a:r>
              <a:t>扫码借还书、推送到期提醒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943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rPr dirty="0" err="1"/>
              <a:t>感谢各位老师的聆听，请批评指正</a:t>
            </a:r>
            <a:r>
              <a:rPr dirty="0"/>
              <a:t>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ECF0F1"/>
                </a:solidFill>
                <a:latin typeface="Microsoft YaHei"/>
              </a:defRPr>
            </a:pPr>
            <a:r>
              <a:t>18/18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2071</Words>
  <Application>Microsoft Office PowerPoint</Application>
  <PresentationFormat>宽屏</PresentationFormat>
  <Paragraphs>566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feiyv yao</cp:lastModifiedBy>
  <cp:revision>3</cp:revision>
  <dcterms:created xsi:type="dcterms:W3CDTF">2013-01-27T09:14:16Z</dcterms:created>
  <dcterms:modified xsi:type="dcterms:W3CDTF">2026-07-04T13:09:30Z</dcterms:modified>
  <cp:category/>
</cp:coreProperties>
</file>